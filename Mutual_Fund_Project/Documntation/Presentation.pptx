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7A274-ECCA-4663-9299-653298DA36CC}" v="75" dt="2026-06-16T19:01:00.599"/>
    <p1510:client id="{610EA906-13D8-42E8-9739-F8A5827A272C}" v="13" dt="2026-06-17T04:38:21.9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1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Jangir" userId="74c0ff9a4a8d92c6" providerId="LiveId" clId="{4186D8F3-B8A0-4D8E-939C-43F371C267A4}"/>
    <pc:docChg chg="undo custSel addSld modSld">
      <pc:chgData name="Manisha Jangir" userId="74c0ff9a4a8d92c6" providerId="LiveId" clId="{4186D8F3-B8A0-4D8E-939C-43F371C267A4}" dt="2026-06-17T04:44:24.762" v="162" actId="14100"/>
      <pc:docMkLst>
        <pc:docMk/>
      </pc:docMkLst>
      <pc:sldChg chg="modSp mod">
        <pc:chgData name="Manisha Jangir" userId="74c0ff9a4a8d92c6" providerId="LiveId" clId="{4186D8F3-B8A0-4D8E-939C-43F371C267A4}" dt="2026-06-17T03:49:31.279" v="61" actId="20577"/>
        <pc:sldMkLst>
          <pc:docMk/>
          <pc:sldMk cId="663233169" sldId="259"/>
        </pc:sldMkLst>
        <pc:spChg chg="mod">
          <ac:chgData name="Manisha Jangir" userId="74c0ff9a4a8d92c6" providerId="LiveId" clId="{4186D8F3-B8A0-4D8E-939C-43F371C267A4}" dt="2026-06-17T03:49:31.279" v="61" actId="20577"/>
          <ac:spMkLst>
            <pc:docMk/>
            <pc:sldMk cId="663233169" sldId="259"/>
            <ac:spMk id="3" creationId="{8469C1A5-D3DD-522C-1C8F-558B0E9CADF2}"/>
          </ac:spMkLst>
        </pc:spChg>
      </pc:sldChg>
      <pc:sldChg chg="modSp mod">
        <pc:chgData name="Manisha Jangir" userId="74c0ff9a4a8d92c6" providerId="LiveId" clId="{4186D8F3-B8A0-4D8E-939C-43F371C267A4}" dt="2026-06-17T03:48:58.100" v="47" actId="20577"/>
        <pc:sldMkLst>
          <pc:docMk/>
          <pc:sldMk cId="2116208790" sldId="260"/>
        </pc:sldMkLst>
        <pc:spChg chg="mod">
          <ac:chgData name="Manisha Jangir" userId="74c0ff9a4a8d92c6" providerId="LiveId" clId="{4186D8F3-B8A0-4D8E-939C-43F371C267A4}" dt="2026-06-17T03:48:58.100" v="47" actId="20577"/>
          <ac:spMkLst>
            <pc:docMk/>
            <pc:sldMk cId="2116208790" sldId="260"/>
            <ac:spMk id="5" creationId="{E7FC2609-2A30-67ED-3152-19FA66B98A96}"/>
          </ac:spMkLst>
        </pc:spChg>
      </pc:sldChg>
      <pc:sldChg chg="modSp mod">
        <pc:chgData name="Manisha Jangir" userId="74c0ff9a4a8d92c6" providerId="LiveId" clId="{4186D8F3-B8A0-4D8E-939C-43F371C267A4}" dt="2026-06-17T03:47:03.647" v="14" actId="1076"/>
        <pc:sldMkLst>
          <pc:docMk/>
          <pc:sldMk cId="1251273470" sldId="261"/>
        </pc:sldMkLst>
        <pc:graphicFrameChg chg="mod modGraphic">
          <ac:chgData name="Manisha Jangir" userId="74c0ff9a4a8d92c6" providerId="LiveId" clId="{4186D8F3-B8A0-4D8E-939C-43F371C267A4}" dt="2026-06-17T03:47:03.647" v="14" actId="1076"/>
          <ac:graphicFrameMkLst>
            <pc:docMk/>
            <pc:sldMk cId="1251273470" sldId="261"/>
            <ac:graphicFrameMk id="3" creationId="{05A9C60B-8D09-D8E2-319F-5276AC962D63}"/>
          </ac:graphicFrameMkLst>
        </pc:graphicFrameChg>
      </pc:sldChg>
      <pc:sldChg chg="modSp mod">
        <pc:chgData name="Manisha Jangir" userId="74c0ff9a4a8d92c6" providerId="LiveId" clId="{4186D8F3-B8A0-4D8E-939C-43F371C267A4}" dt="2026-06-17T04:43:25.650" v="159" actId="1076"/>
        <pc:sldMkLst>
          <pc:docMk/>
          <pc:sldMk cId="2516290163" sldId="266"/>
        </pc:sldMkLst>
        <pc:spChg chg="mod">
          <ac:chgData name="Manisha Jangir" userId="74c0ff9a4a8d92c6" providerId="LiveId" clId="{4186D8F3-B8A0-4D8E-939C-43F371C267A4}" dt="2026-06-17T04:43:25.650" v="159" actId="1076"/>
          <ac:spMkLst>
            <pc:docMk/>
            <pc:sldMk cId="2516290163" sldId="266"/>
            <ac:spMk id="13" creationId="{7D96221E-7DF3-A044-A4CD-B7D8A03262BF}"/>
          </ac:spMkLst>
        </pc:spChg>
        <pc:graphicFrameChg chg="mod modGraphic">
          <ac:chgData name="Manisha Jangir" userId="74c0ff9a4a8d92c6" providerId="LiveId" clId="{4186D8F3-B8A0-4D8E-939C-43F371C267A4}" dt="2026-06-17T04:43:23.260" v="158" actId="1076"/>
          <ac:graphicFrameMkLst>
            <pc:docMk/>
            <pc:sldMk cId="2516290163" sldId="266"/>
            <ac:graphicFrameMk id="10" creationId="{B0629C0E-BA12-7C0F-F64E-9DFDA95623EE}"/>
          </ac:graphicFrameMkLst>
        </pc:graphicFrameChg>
      </pc:sldChg>
      <pc:sldChg chg="addSp delSp modSp new mod">
        <pc:chgData name="Manisha Jangir" userId="74c0ff9a4a8d92c6" providerId="LiveId" clId="{4186D8F3-B8A0-4D8E-939C-43F371C267A4}" dt="2026-06-17T04:44:24.762" v="162" actId="14100"/>
        <pc:sldMkLst>
          <pc:docMk/>
          <pc:sldMk cId="3609338394" sldId="269"/>
        </pc:sldMkLst>
        <pc:spChg chg="add mod">
          <ac:chgData name="Manisha Jangir" userId="74c0ff9a4a8d92c6" providerId="LiveId" clId="{4186D8F3-B8A0-4D8E-939C-43F371C267A4}" dt="2026-06-17T04:37:05.077" v="130" actId="1076"/>
          <ac:spMkLst>
            <pc:docMk/>
            <pc:sldMk cId="3609338394" sldId="269"/>
            <ac:spMk id="2" creationId="{0D72483A-0745-C084-E866-5667D1DE1B69}"/>
          </ac:spMkLst>
        </pc:spChg>
        <pc:spChg chg="add mod">
          <ac:chgData name="Manisha Jangir" userId="74c0ff9a4a8d92c6" providerId="LiveId" clId="{4186D8F3-B8A0-4D8E-939C-43F371C267A4}" dt="2026-06-17T04:37:38.559" v="136" actId="1076"/>
          <ac:spMkLst>
            <pc:docMk/>
            <pc:sldMk cId="3609338394" sldId="269"/>
            <ac:spMk id="3" creationId="{62523750-2BC7-44F6-315D-E5D1B46452BC}"/>
          </ac:spMkLst>
        </pc:spChg>
        <pc:spChg chg="add mod">
          <ac:chgData name="Manisha Jangir" userId="74c0ff9a4a8d92c6" providerId="LiveId" clId="{4186D8F3-B8A0-4D8E-939C-43F371C267A4}" dt="2026-06-17T04:37:51.664" v="137" actId="1076"/>
          <ac:spMkLst>
            <pc:docMk/>
            <pc:sldMk cId="3609338394" sldId="269"/>
            <ac:spMk id="4" creationId="{BCFB7BC2-D877-3320-97C3-83C5F5AD2C29}"/>
          </ac:spMkLst>
        </pc:spChg>
        <pc:spChg chg="add del">
          <ac:chgData name="Manisha Jangir" userId="74c0ff9a4a8d92c6" providerId="LiveId" clId="{4186D8F3-B8A0-4D8E-939C-43F371C267A4}" dt="2026-06-17T04:36:59.796" v="129" actId="21"/>
          <ac:spMkLst>
            <pc:docMk/>
            <pc:sldMk cId="3609338394" sldId="269"/>
            <ac:spMk id="6" creationId="{42D5D48F-7466-FB60-0704-43A6E67A21EF}"/>
          </ac:spMkLst>
        </pc:spChg>
        <pc:spChg chg="add mod">
          <ac:chgData name="Manisha Jangir" userId="74c0ff9a4a8d92c6" providerId="LiveId" clId="{4186D8F3-B8A0-4D8E-939C-43F371C267A4}" dt="2026-06-17T04:44:24.762" v="162" actId="14100"/>
          <ac:spMkLst>
            <pc:docMk/>
            <pc:sldMk cId="3609338394" sldId="269"/>
            <ac:spMk id="7" creationId="{6060C450-6C3D-A3FD-484B-37E7862B9810}"/>
          </ac:spMkLst>
        </pc:spChg>
        <pc:spChg chg="add mod">
          <ac:chgData name="Manisha Jangir" userId="74c0ff9a4a8d92c6" providerId="LiveId" clId="{4186D8F3-B8A0-4D8E-939C-43F371C267A4}" dt="2026-06-17T04:43:05.386" v="156" actId="17032"/>
          <ac:spMkLst>
            <pc:docMk/>
            <pc:sldMk cId="3609338394" sldId="269"/>
            <ac:spMk id="11" creationId="{1709AA7F-6981-17D5-8387-8E6C6509D508}"/>
          </ac:spMkLst>
        </pc:spChg>
        <pc:picChg chg="add mod">
          <ac:chgData name="Manisha Jangir" userId="74c0ff9a4a8d92c6" providerId="LiveId" clId="{4186D8F3-B8A0-4D8E-939C-43F371C267A4}" dt="2026-06-17T04:42:23.243" v="151" actId="1076"/>
          <ac:picMkLst>
            <pc:docMk/>
            <pc:sldMk cId="3609338394" sldId="269"/>
            <ac:picMk id="9" creationId="{C12007BA-7B91-D20A-D66F-D8C740A2B4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2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68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47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2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38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0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61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65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3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40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74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67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21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96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3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78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8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6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CE41C-C6A1-37D7-12F8-EFE3D6E200C6}"/>
              </a:ext>
            </a:extLst>
          </p:cNvPr>
          <p:cNvSpPr txBox="1"/>
          <p:nvPr/>
        </p:nvSpPr>
        <p:spPr>
          <a:xfrm>
            <a:off x="1508234" y="2190968"/>
            <a:ext cx="9774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Title</a:t>
            </a:r>
            <a:r>
              <a:rPr lang="en-IN" sz="3600" b="1" dirty="0">
                <a:solidFill>
                  <a:schemeClr val="accent3">
                    <a:lumMod val="50000"/>
                  </a:schemeClr>
                </a:solidFill>
              </a:rPr>
              <a:t> :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Mutual Fund Data Scraper &amp; Basic</a:t>
            </a:r>
          </a:p>
          <a:p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Forecasting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FAA0D-2898-8B8D-3840-288150B179B5}"/>
              </a:ext>
            </a:extLst>
          </p:cNvPr>
          <p:cNvSpPr txBox="1"/>
          <p:nvPr/>
        </p:nvSpPr>
        <p:spPr>
          <a:xfrm>
            <a:off x="1508234" y="3802908"/>
            <a:ext cx="8692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:     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Akshya Jangir  (EC)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64739-9C2D-4A91-D09D-C43201B5FD37}"/>
              </a:ext>
            </a:extLst>
          </p:cNvPr>
          <p:cNvSpPr txBox="1"/>
          <p:nvPr/>
        </p:nvSpPr>
        <p:spPr>
          <a:xfrm>
            <a:off x="1508234" y="4799294"/>
            <a:ext cx="96379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Institute Name :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B.K. Birla Institute Of Engineering  &amp;</a:t>
            </a: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Technology, Pilani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3F157-970B-C642-3F36-C0CA0D69EFEB}"/>
              </a:ext>
            </a:extLst>
          </p:cNvPr>
          <p:cNvSpPr txBox="1"/>
          <p:nvPr/>
        </p:nvSpPr>
        <p:spPr>
          <a:xfrm>
            <a:off x="4267201" y="671361"/>
            <a:ext cx="80193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008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BA08A-03B4-3158-3AC8-3796F1BD9B2B}"/>
              </a:ext>
            </a:extLst>
          </p:cNvPr>
          <p:cNvSpPr txBox="1"/>
          <p:nvPr/>
        </p:nvSpPr>
        <p:spPr>
          <a:xfrm>
            <a:off x="1786758" y="515007"/>
            <a:ext cx="6085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9908F-91DC-593A-93FB-CF0A97F84D49}"/>
              </a:ext>
            </a:extLst>
          </p:cNvPr>
          <p:cNvSpPr txBox="1"/>
          <p:nvPr/>
        </p:nvSpPr>
        <p:spPr>
          <a:xfrm>
            <a:off x="2296510" y="1099782"/>
            <a:ext cx="86289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Mutual fund data is scattered across different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Manual analysis is time-consuming.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Estimating future trends is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Lack of Quick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Lack of forecasting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Difficult fund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04BCB-5B77-9A2D-1EA4-6BE83FEE2D6C}"/>
              </a:ext>
            </a:extLst>
          </p:cNvPr>
          <p:cNvSpPr txBox="1"/>
          <p:nvPr/>
        </p:nvSpPr>
        <p:spPr>
          <a:xfrm>
            <a:off x="1786758" y="3429000"/>
            <a:ext cx="371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C2609-2A30-67ED-3152-19FA66B98A96}"/>
              </a:ext>
            </a:extLst>
          </p:cNvPr>
          <p:cNvSpPr txBox="1"/>
          <p:nvPr/>
        </p:nvSpPr>
        <p:spPr>
          <a:xfrm>
            <a:off x="2296510" y="4127002"/>
            <a:ext cx="79878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Automated scraping from real financial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Dashboard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11620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0ACA5D-4987-703D-DC63-059E9F5E833B}"/>
              </a:ext>
            </a:extLst>
          </p:cNvPr>
          <p:cNvSpPr txBox="1"/>
          <p:nvPr/>
        </p:nvSpPr>
        <p:spPr>
          <a:xfrm>
            <a:off x="1450427" y="996297"/>
            <a:ext cx="4498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3">
                    <a:lumMod val="50000"/>
                  </a:schemeClr>
                </a:solidFill>
              </a:rPr>
              <a:t>Objectives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9C1A5-D3DD-522C-1C8F-558B0E9CADF2}"/>
              </a:ext>
            </a:extLst>
          </p:cNvPr>
          <p:cNvSpPr txBox="1"/>
          <p:nvPr/>
        </p:nvSpPr>
        <p:spPr>
          <a:xfrm>
            <a:off x="2301767" y="1849821"/>
            <a:ext cx="96590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Collect mutual fund data automatically through scraping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Store data in CSV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 err="1"/>
              <a:t>Analyze</a:t>
            </a:r>
            <a:r>
              <a:rPr lang="en-IN" sz="2800" b="1" dirty="0"/>
              <a:t>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Forecast </a:t>
            </a:r>
            <a:r>
              <a:rPr lang="en-IN" sz="2800" b="1"/>
              <a:t>future trends</a:t>
            </a:r>
            <a:endParaRPr lang="en-IN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Visualize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Predict future NAV (Net Asset 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Create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66323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3E0C-92D9-B161-3229-33E8F4B0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A9C60B-8D09-D8E2-319F-5276AC962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766395"/>
              </p:ext>
            </p:extLst>
          </p:nvPr>
        </p:nvGraphicFramePr>
        <p:xfrm>
          <a:off x="2480441" y="1469916"/>
          <a:ext cx="8713076" cy="48167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56538">
                  <a:extLst>
                    <a:ext uri="{9D8B030D-6E8A-4147-A177-3AD203B41FA5}">
                      <a16:colId xmlns:a16="http://schemas.microsoft.com/office/drawing/2014/main" val="890464117"/>
                    </a:ext>
                  </a:extLst>
                </a:gridCol>
                <a:gridCol w="4356538">
                  <a:extLst>
                    <a:ext uri="{9D8B030D-6E8A-4147-A177-3AD203B41FA5}">
                      <a16:colId xmlns:a16="http://schemas.microsoft.com/office/drawing/2014/main" val="871737300"/>
                    </a:ext>
                  </a:extLst>
                </a:gridCol>
              </a:tblGrid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152217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81567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Data Collection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93133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err="1"/>
                        <a:t>BeautifulSoup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Web Scraping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59108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Data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83438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60283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971039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err="1"/>
                        <a:t>Streamlit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606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224A53-2855-A610-50EB-D860BDB3CA7C}"/>
              </a:ext>
            </a:extLst>
          </p:cNvPr>
          <p:cNvSpPr txBox="1"/>
          <p:nvPr/>
        </p:nvSpPr>
        <p:spPr>
          <a:xfrm>
            <a:off x="2017986" y="571348"/>
            <a:ext cx="5297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&amp; Purpose :</a:t>
            </a:r>
          </a:p>
        </p:txBody>
      </p:sp>
    </p:spTree>
    <p:extLst>
      <p:ext uri="{BB962C8B-B14F-4D97-AF65-F5344CB8AC3E}">
        <p14:creationId xmlns:p14="http://schemas.microsoft.com/office/powerpoint/2010/main" val="125127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AC46-DB4A-9C42-E270-3849D32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58698D-FF6E-29D6-44D5-4FACFE561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854598"/>
              </p:ext>
            </p:extLst>
          </p:nvPr>
        </p:nvGraphicFramePr>
        <p:xfrm>
          <a:off x="8268134" y="175396"/>
          <a:ext cx="3076028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76028">
                  <a:extLst>
                    <a:ext uri="{9D8B030D-6E8A-4147-A177-3AD203B41FA5}">
                      <a16:colId xmlns:a16="http://schemas.microsoft.com/office/drawing/2014/main" val="3528824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 </a:t>
                      </a: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Website  (</a:t>
                      </a:r>
                      <a:r>
                        <a:rPr lang="en-IN" sz="16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Groww</a:t>
                      </a:r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and ET Money)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59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122CA9-734A-A4F6-AEC3-9459F5B7E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904158"/>
              </p:ext>
            </p:extLst>
          </p:nvPr>
        </p:nvGraphicFramePr>
        <p:xfrm>
          <a:off x="9206183" y="1210705"/>
          <a:ext cx="1199931" cy="335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99931">
                  <a:extLst>
                    <a:ext uri="{9D8B030D-6E8A-4147-A177-3AD203B41FA5}">
                      <a16:colId xmlns:a16="http://schemas.microsoft.com/office/drawing/2014/main" val="2193806368"/>
                    </a:ext>
                  </a:extLst>
                </a:gridCol>
              </a:tblGrid>
              <a:tr h="266703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Scraper.py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333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0B6E33-C6D3-6088-4F7E-19A63FF53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64050"/>
              </p:ext>
            </p:extLst>
          </p:nvPr>
        </p:nvGraphicFramePr>
        <p:xfrm>
          <a:off x="9140039" y="2214669"/>
          <a:ext cx="1332223" cy="335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2223">
                  <a:extLst>
                    <a:ext uri="{9D8B030D-6E8A-4147-A177-3AD203B41FA5}">
                      <a16:colId xmlns:a16="http://schemas.microsoft.com/office/drawing/2014/main" val="1759553044"/>
                    </a:ext>
                  </a:extLst>
                </a:gridCol>
              </a:tblGrid>
              <a:tr h="255143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CSV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332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6C15BF-8BA7-D9F6-13AB-4B1C3A03F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58875"/>
              </p:ext>
            </p:extLst>
          </p:nvPr>
        </p:nvGraphicFramePr>
        <p:xfrm>
          <a:off x="9140039" y="3217969"/>
          <a:ext cx="1332223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2223">
                  <a:extLst>
                    <a:ext uri="{9D8B030D-6E8A-4147-A177-3AD203B41FA5}">
                      <a16:colId xmlns:a16="http://schemas.microsoft.com/office/drawing/2014/main" val="2878472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429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2DD13B-20D2-EDF7-7AB9-064818C25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29991"/>
              </p:ext>
            </p:extLst>
          </p:nvPr>
        </p:nvGraphicFramePr>
        <p:xfrm>
          <a:off x="8966217" y="5294160"/>
          <a:ext cx="1616835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16835">
                  <a:extLst>
                    <a:ext uri="{9D8B030D-6E8A-4147-A177-3AD203B41FA5}">
                      <a16:colId xmlns:a16="http://schemas.microsoft.com/office/drawing/2014/main" val="4043297010"/>
                    </a:ext>
                  </a:extLst>
                </a:gridCol>
              </a:tblGrid>
              <a:tr h="341879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Dashboard.py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3712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24603F-BDB7-8B3D-7ADA-66F8AA590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10888"/>
              </p:ext>
            </p:extLst>
          </p:nvPr>
        </p:nvGraphicFramePr>
        <p:xfrm>
          <a:off x="8919792" y="4260380"/>
          <a:ext cx="1709684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09684">
                  <a:extLst>
                    <a:ext uri="{9D8B030D-6E8A-4147-A177-3AD203B41FA5}">
                      <a16:colId xmlns:a16="http://schemas.microsoft.com/office/drawing/2014/main" val="312515399"/>
                    </a:ext>
                  </a:extLst>
                </a:gridCol>
              </a:tblGrid>
              <a:tr h="269451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Forecasting.py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0692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8F7D02-898F-CA17-473B-7C339509C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05279"/>
              </p:ext>
            </p:extLst>
          </p:nvPr>
        </p:nvGraphicFramePr>
        <p:xfrm>
          <a:off x="9287641" y="6327940"/>
          <a:ext cx="103702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37021">
                  <a:extLst>
                    <a:ext uri="{9D8B030D-6E8A-4147-A177-3AD203B41FA5}">
                      <a16:colId xmlns:a16="http://schemas.microsoft.com/office/drawing/2014/main" val="2181606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Browser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5354"/>
                  </a:ext>
                </a:extLst>
              </a:tr>
            </a:tbl>
          </a:graphicData>
        </a:graphic>
      </p:graphicFrame>
      <p:sp>
        <p:nvSpPr>
          <p:cNvPr id="20" name="Arrow: Down 19">
            <a:extLst>
              <a:ext uri="{FF2B5EF4-FFF2-40B4-BE49-F238E27FC236}">
                <a16:creationId xmlns:a16="http://schemas.microsoft.com/office/drawing/2014/main" id="{2719CB73-E20F-C22C-2735-304E8C5A57EA}"/>
              </a:ext>
            </a:extLst>
          </p:cNvPr>
          <p:cNvSpPr/>
          <p:nvPr/>
        </p:nvSpPr>
        <p:spPr>
          <a:xfrm>
            <a:off x="9601204" y="551721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F80CDDD-9348-9454-7072-52DA7F8AE92E}"/>
              </a:ext>
            </a:extLst>
          </p:cNvPr>
          <p:cNvSpPr/>
          <p:nvPr/>
        </p:nvSpPr>
        <p:spPr>
          <a:xfrm>
            <a:off x="9601204" y="1550200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3116084-9059-082A-D4B4-F1FC68F34EE3}"/>
              </a:ext>
            </a:extLst>
          </p:cNvPr>
          <p:cNvSpPr/>
          <p:nvPr/>
        </p:nvSpPr>
        <p:spPr>
          <a:xfrm>
            <a:off x="9601204" y="2546398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A784D5F-8108-5385-8EA5-37667A412A6F}"/>
              </a:ext>
            </a:extLst>
          </p:cNvPr>
          <p:cNvSpPr/>
          <p:nvPr/>
        </p:nvSpPr>
        <p:spPr>
          <a:xfrm>
            <a:off x="9601204" y="3592157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51A6B90-53D6-3981-7765-5D1FB278EE57}"/>
              </a:ext>
            </a:extLst>
          </p:cNvPr>
          <p:cNvSpPr/>
          <p:nvPr/>
        </p:nvSpPr>
        <p:spPr>
          <a:xfrm>
            <a:off x="9601204" y="4638322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FC2DCF8-BB86-285D-4DFE-2792F4CE87EB}"/>
              </a:ext>
            </a:extLst>
          </p:cNvPr>
          <p:cNvSpPr/>
          <p:nvPr/>
        </p:nvSpPr>
        <p:spPr>
          <a:xfrm>
            <a:off x="9601204" y="5672102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B6EDAD-989B-CAD7-A327-3946369B277C}"/>
              </a:ext>
            </a:extLst>
          </p:cNvPr>
          <p:cNvSpPr txBox="1"/>
          <p:nvPr/>
        </p:nvSpPr>
        <p:spPr>
          <a:xfrm>
            <a:off x="2070538" y="262759"/>
            <a:ext cx="3478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Workflow 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F6AD61-18B7-0B0E-AC49-FE77B2B95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298" y="1210705"/>
            <a:ext cx="4488472" cy="527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6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2788-37C4-A4B2-BB69-A8637527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8CB16-32FF-E990-B0E8-0D7D63081811}"/>
              </a:ext>
            </a:extLst>
          </p:cNvPr>
          <p:cNvSpPr txBox="1"/>
          <p:nvPr/>
        </p:nvSpPr>
        <p:spPr>
          <a:xfrm>
            <a:off x="1324303" y="935421"/>
            <a:ext cx="477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A38BE-933B-1AF3-33AF-9BBBF4EF4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47" y="2609544"/>
            <a:ext cx="9958638" cy="2845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2402C9-5401-EC6D-2F25-E980A04194BF}"/>
              </a:ext>
            </a:extLst>
          </p:cNvPr>
          <p:cNvSpPr txBox="1"/>
          <p:nvPr/>
        </p:nvSpPr>
        <p:spPr>
          <a:xfrm>
            <a:off x="1799854" y="1908363"/>
            <a:ext cx="3276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Mutual Funds Data :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2223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008B-9C3D-CF27-AFB5-FE077E9A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BE84C-58B4-6A49-3BEE-4A98FE43BD7A}"/>
              </a:ext>
            </a:extLst>
          </p:cNvPr>
          <p:cNvSpPr txBox="1"/>
          <p:nvPr/>
        </p:nvSpPr>
        <p:spPr>
          <a:xfrm>
            <a:off x="1881352" y="378373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Results :</a:t>
            </a:r>
            <a:endParaRPr lang="en-IN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210E6-33B5-1EAD-B8FE-15273266A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73" y="901593"/>
            <a:ext cx="5351807" cy="3212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829745-6C53-9D1F-2D59-8D2097DDD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80" y="901593"/>
            <a:ext cx="5181600" cy="3212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928F6A-F3CE-D2EA-FD56-0548B41C7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005" y="4113634"/>
            <a:ext cx="7595121" cy="26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6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ED51-A385-84F7-8CF2-DBE2A289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8AA91-53AD-79B1-34DA-CAE570FDD56F}"/>
              </a:ext>
            </a:extLst>
          </p:cNvPr>
          <p:cNvSpPr txBox="1"/>
          <p:nvPr/>
        </p:nvSpPr>
        <p:spPr>
          <a:xfrm>
            <a:off x="1747520" y="155247"/>
            <a:ext cx="453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Forecasting Results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417F8-12DE-EE75-17DF-E6F9146CA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520" y="616912"/>
            <a:ext cx="6634480" cy="3317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F7686C-A1B7-A443-45E9-9C09C7519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934152"/>
            <a:ext cx="5786120" cy="292384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310DD5B-ADA5-37E5-E8DD-7B9247683367}"/>
              </a:ext>
            </a:extLst>
          </p:cNvPr>
          <p:cNvSpPr/>
          <p:nvPr/>
        </p:nvSpPr>
        <p:spPr>
          <a:xfrm>
            <a:off x="8473440" y="1813867"/>
            <a:ext cx="439420" cy="461665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338E56-8A85-19F2-64AB-73DC762A6DFD}"/>
              </a:ext>
            </a:extLst>
          </p:cNvPr>
          <p:cNvSpPr/>
          <p:nvPr/>
        </p:nvSpPr>
        <p:spPr>
          <a:xfrm rot="10800000">
            <a:off x="5424170" y="5196020"/>
            <a:ext cx="519430" cy="523219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3C17AFB-F594-6DE4-358C-E8D29E486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468096"/>
              </p:ext>
            </p:extLst>
          </p:nvPr>
        </p:nvGraphicFramePr>
        <p:xfrm>
          <a:off x="8912860" y="1818332"/>
          <a:ext cx="3169920" cy="457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2020337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Moving Average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91277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662123-497D-D315-7EE6-508AE549B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45844"/>
              </p:ext>
            </p:extLst>
          </p:nvPr>
        </p:nvGraphicFramePr>
        <p:xfrm>
          <a:off x="2904489" y="5196020"/>
          <a:ext cx="2519680" cy="5181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19680">
                  <a:extLst>
                    <a:ext uri="{9D8B030D-6E8A-4147-A177-3AD203B41FA5}">
                      <a16:colId xmlns:a16="http://schemas.microsoft.com/office/drawing/2014/main" val="3845909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Forecast Graph</a:t>
                      </a:r>
                      <a:endParaRPr lang="en-IN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4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91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D769-A2A3-36E6-43D7-CC1BDCD7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C289A-27CA-EBD0-5DAD-65E1A0A1373E}"/>
              </a:ext>
            </a:extLst>
          </p:cNvPr>
          <p:cNvSpPr txBox="1"/>
          <p:nvPr/>
        </p:nvSpPr>
        <p:spPr>
          <a:xfrm>
            <a:off x="1473200" y="921039"/>
            <a:ext cx="3393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7C8B3-185E-FB5E-AFC7-482BF7771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088" y="2432045"/>
            <a:ext cx="6112432" cy="3843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52CA53-066C-0823-78D3-C4FCEC961307}"/>
              </a:ext>
            </a:extLst>
          </p:cNvPr>
          <p:cNvSpPr txBox="1"/>
          <p:nvPr/>
        </p:nvSpPr>
        <p:spPr>
          <a:xfrm>
            <a:off x="1280160" y="2137569"/>
            <a:ext cx="217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Features: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887C1-38F4-1485-1320-64101F5E2C73}"/>
              </a:ext>
            </a:extLst>
          </p:cNvPr>
          <p:cNvSpPr txBox="1"/>
          <p:nvPr/>
        </p:nvSpPr>
        <p:spPr>
          <a:xfrm>
            <a:off x="1783080" y="2908638"/>
            <a:ext cx="299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Dataset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Search Fund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Analysis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Forecast Results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629C0E-BA12-7C0F-F64E-9DFDA9562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487535"/>
              </p:ext>
            </p:extLst>
          </p:nvPr>
        </p:nvGraphicFramePr>
        <p:xfrm>
          <a:off x="8033424" y="1305759"/>
          <a:ext cx="1635760" cy="457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635760">
                  <a:extLst>
                    <a:ext uri="{9D8B030D-6E8A-4147-A177-3AD203B41FA5}">
                      <a16:colId xmlns:a16="http://schemas.microsoft.com/office/drawing/2014/main" val="740316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78759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7D96221E-7DF3-A044-A4CD-B7D8A03262BF}"/>
              </a:ext>
            </a:extLst>
          </p:cNvPr>
          <p:cNvSpPr/>
          <p:nvPr/>
        </p:nvSpPr>
        <p:spPr>
          <a:xfrm>
            <a:off x="8516024" y="1841020"/>
            <a:ext cx="670560" cy="512964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90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5DC6-19FA-13AB-D7D1-FA30979A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4B5D6-8380-A722-6FF4-5C9A28F3A5F8}"/>
              </a:ext>
            </a:extLst>
          </p:cNvPr>
          <p:cNvSpPr txBox="1"/>
          <p:nvPr/>
        </p:nvSpPr>
        <p:spPr>
          <a:xfrm>
            <a:off x="1645920" y="769907"/>
            <a:ext cx="577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&amp; Future Scope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6E1C7-5203-FC61-C9F8-823742ED5B46}"/>
              </a:ext>
            </a:extLst>
          </p:cNvPr>
          <p:cNvSpPr txBox="1"/>
          <p:nvPr/>
        </p:nvSpPr>
        <p:spPr>
          <a:xfrm>
            <a:off x="3459480" y="2337270"/>
            <a:ext cx="5527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Successfully scraped mutual fund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Performed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Generated forecasts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Built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4FE51-C8EC-2D3A-6BB1-3A67F3073AC1}"/>
              </a:ext>
            </a:extLst>
          </p:cNvPr>
          <p:cNvSpPr txBox="1"/>
          <p:nvPr/>
        </p:nvSpPr>
        <p:spPr>
          <a:xfrm>
            <a:off x="3459480" y="4693195"/>
            <a:ext cx="4714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APIs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ARIMA/LSTM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Fund recommendation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Portfolio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CDD23-86F4-9CDC-1860-AE2D7C1F152A}"/>
              </a:ext>
            </a:extLst>
          </p:cNvPr>
          <p:cNvSpPr txBox="1"/>
          <p:nvPr/>
        </p:nvSpPr>
        <p:spPr>
          <a:xfrm>
            <a:off x="2946400" y="1752495"/>
            <a:ext cx="314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Conclusion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C3026-7713-DDCA-24A5-6CF62B392AB0}"/>
              </a:ext>
            </a:extLst>
          </p:cNvPr>
          <p:cNvSpPr txBox="1"/>
          <p:nvPr/>
        </p:nvSpPr>
        <p:spPr>
          <a:xfrm>
            <a:off x="2946400" y="4108420"/>
            <a:ext cx="2804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Future Scope :</a:t>
            </a:r>
          </a:p>
        </p:txBody>
      </p:sp>
    </p:spTree>
    <p:extLst>
      <p:ext uri="{BB962C8B-B14F-4D97-AF65-F5344CB8AC3E}">
        <p14:creationId xmlns:p14="http://schemas.microsoft.com/office/powerpoint/2010/main" val="86478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2483A-0745-C084-E866-5667D1DE1B69}"/>
              </a:ext>
            </a:extLst>
          </p:cNvPr>
          <p:cNvSpPr txBox="1"/>
          <p:nvPr/>
        </p:nvSpPr>
        <p:spPr>
          <a:xfrm>
            <a:off x="1366345" y="899955"/>
            <a:ext cx="4729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3">
                    <a:lumMod val="50000"/>
                  </a:schemeClr>
                </a:solidFill>
              </a:rPr>
              <a:t>GitHub Repository 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23750-2BC7-44F6-315D-E5D1B46452BC}"/>
              </a:ext>
            </a:extLst>
          </p:cNvPr>
          <p:cNvSpPr txBox="1"/>
          <p:nvPr/>
        </p:nvSpPr>
        <p:spPr>
          <a:xfrm>
            <a:off x="1891861" y="1874348"/>
            <a:ext cx="3867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Repository Contains: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B7BC2-D877-3320-97C3-83C5F5AD2C29}"/>
              </a:ext>
            </a:extLst>
          </p:cNvPr>
          <p:cNvSpPr txBox="1"/>
          <p:nvPr/>
        </p:nvSpPr>
        <p:spPr>
          <a:xfrm>
            <a:off x="2669628" y="2459123"/>
            <a:ext cx="42356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Source 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Analysis 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Forecasting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Project 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0C450-6C3D-A3FD-484B-37E7862B9810}"/>
              </a:ext>
            </a:extLst>
          </p:cNvPr>
          <p:cNvSpPr txBox="1"/>
          <p:nvPr/>
        </p:nvSpPr>
        <p:spPr>
          <a:xfrm>
            <a:off x="7514894" y="437895"/>
            <a:ext cx="386780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Repository Structure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007BA-7B91-D20A-D66F-D8C740A2B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40" y="1607841"/>
            <a:ext cx="3657917" cy="508298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1709AA7F-6981-17D5-8387-8E6C6509D508}"/>
              </a:ext>
            </a:extLst>
          </p:cNvPr>
          <p:cNvSpPr/>
          <p:nvPr/>
        </p:nvSpPr>
        <p:spPr>
          <a:xfrm>
            <a:off x="9113517" y="1094877"/>
            <a:ext cx="670560" cy="512964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3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1806-3238-6E5A-CC34-97432B2F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8C44F-B52F-A966-C844-D8B39C82102A}"/>
              </a:ext>
            </a:extLst>
          </p:cNvPr>
          <p:cNvSpPr txBox="1"/>
          <p:nvPr/>
        </p:nvSpPr>
        <p:spPr>
          <a:xfrm>
            <a:off x="2656840" y="2497976"/>
            <a:ext cx="6878320" cy="186204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11500" b="1" dirty="0">
                <a:ln/>
                <a:solidFill>
                  <a:schemeClr val="accent3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6356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313</TotalTime>
  <Words>247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akshayjangir.com1111@gmail.com</dc:creator>
  <cp:lastModifiedBy>Manisha Jangir</cp:lastModifiedBy>
  <cp:revision>3</cp:revision>
  <dcterms:created xsi:type="dcterms:W3CDTF">2026-06-16T09:57:15Z</dcterms:created>
  <dcterms:modified xsi:type="dcterms:W3CDTF">2026-06-17T04:44:31Z</dcterms:modified>
</cp:coreProperties>
</file>